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0" y="4297680"/>
            <a:ext cx="3291840" cy="329184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Calibri"/>
              </a:rPr>
              <a:t>APICEM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75895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F1B2D"/>
                </a:solidFill>
                <a:latin typeface="Calibri"/>
              </a:rPr>
              <a:t>One place to see the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F1B2D"/>
                </a:solidFill>
                <a:latin typeface="Calibri"/>
              </a:rPr>
              <a:t>numbers — and ask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F1B2D"/>
                </a:solidFill>
                <a:latin typeface="Calibri"/>
              </a:rPr>
              <a:t>about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685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400" b="0" i="0" dirty="0">
                <a:solidFill>
                  <a:srgbClr val="6B7688"/>
                </a:solidFill>
                <a:latin typeface="Calibri"/>
              </a:rPr>
              <a:t>U</a:t>
            </a:r>
            <a:r>
              <a:rPr sz="1400" b="0" i="0" dirty="0" err="1">
                <a:solidFill>
                  <a:srgbClr val="6B7688"/>
                </a:solidFill>
                <a:latin typeface="Calibri"/>
              </a:rPr>
              <a:t>pdate</a:t>
            </a:r>
            <a:r>
              <a:rPr sz="1400" b="0" i="0" dirty="0">
                <a:solidFill>
                  <a:srgbClr val="6B7688"/>
                </a:solidFill>
                <a:latin typeface="Calibri"/>
              </a:rPr>
              <a:t> —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3657600" cy="868680"/>
          </a:xfrm>
          <a:prstGeom prst="round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84632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F6FED"/>
                </a:solidFill>
                <a:latin typeface="Calibri"/>
              </a:rPr>
              <a:t>TARGET</a:t>
            </a:r>
          </a:p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F6FED"/>
                </a:solidFill>
                <a:latin typeface="Calibri"/>
              </a:rP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77316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B2D"/>
                </a:solidFill>
                <a:latin typeface="Calibri"/>
              </a:rPr>
              <a:t>Oct 28,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2D"/>
                </a:solidFill>
                <a:latin typeface="Calibri"/>
              </a:rPr>
              <a:t>A working analytics product, live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19272" cy="3794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39696" y="218998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21433" y="2450592"/>
            <a:ext cx="75438" cy="21945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44877" y="2327148"/>
            <a:ext cx="75438" cy="3429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8321" y="2395728"/>
            <a:ext cx="75438" cy="274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B2D"/>
                </a:solidFill>
                <a:latin typeface="Calibri"/>
              </a:rPr>
              <a:t>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2770632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6B7688"/>
                </a:solidFill>
                <a:latin typeface="Calibri"/>
              </a:rPr>
              <a:t>Revenue, marketing, and inventory — six dashboards, one shared source of truth for every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965960"/>
            <a:ext cx="3319272" cy="3794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78424" y="218998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ular Callout 13"/>
          <p:cNvSpPr/>
          <p:nvPr/>
        </p:nvSpPr>
        <p:spPr>
          <a:xfrm>
            <a:off x="5829300" y="2375154"/>
            <a:ext cx="384048" cy="260604"/>
          </a:xfrm>
          <a:prstGeom prst="wedgeRoundRectCallout">
            <a:avLst>
              <a:gd name="adj1" fmla="val -35000"/>
              <a:gd name="adj2" fmla="val 70000"/>
              <a:gd name="adj3" fmla="val 16667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310896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B2D"/>
                </a:solidFill>
                <a:latin typeface="Calibri"/>
              </a:rPr>
              <a:t>Ask Apicem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566160"/>
            <a:ext cx="2770632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6B7688"/>
                </a:solidFill>
                <a:latin typeface="Calibri"/>
              </a:rPr>
              <a:t>Type a question in plain English. Get a real, correct answer instantly — no analyst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1965960"/>
            <a:ext cx="3319272" cy="3794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17152" y="218998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9379609" y="2467212"/>
            <a:ext cx="180443" cy="65676"/>
          </a:xfrm>
          <a:prstGeom prst="line">
            <a:avLst/>
          </a:prstGeom>
          <a:ln w="22225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331603" y="2419206"/>
            <a:ext cx="96012" cy="9601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 flipV="1">
            <a:off x="9560052" y="2340864"/>
            <a:ext cx="0" cy="192024"/>
          </a:xfrm>
          <a:prstGeom prst="line">
            <a:avLst/>
          </a:prstGeom>
          <a:ln w="22225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512046" y="2292858"/>
            <a:ext cx="96012" cy="9601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9560052" y="2467212"/>
            <a:ext cx="180443" cy="65676"/>
          </a:xfrm>
          <a:prstGeom prst="line">
            <a:avLst/>
          </a:prstGeom>
          <a:ln w="22225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692489" y="2419206"/>
            <a:ext cx="96012" cy="9601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9560052" y="2532888"/>
            <a:ext cx="96012" cy="166297"/>
          </a:xfrm>
          <a:prstGeom prst="line">
            <a:avLst/>
          </a:prstGeom>
          <a:ln w="22225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08058" y="2651179"/>
            <a:ext cx="96012" cy="9601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91472" y="2464308"/>
            <a:ext cx="137160" cy="13716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310896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B2D"/>
                </a:solidFill>
                <a:latin typeface="Calibri"/>
              </a:rPr>
              <a:t>Connected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566160"/>
            <a:ext cx="2770632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6B7688"/>
                </a:solidFill>
                <a:latin typeface="Calibri"/>
              </a:rPr>
              <a:t>Shopify, Google Ads, Meta Ads, NetSuite. One tenant's data is fully isolated from another's.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2D"/>
                </a:solidFill>
                <a:latin typeface="Calibri"/>
              </a:rPr>
              <a:t>From raw data to a plain-English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691640" cy="5669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34155"/>
                </a:solidFill>
                <a:latin typeface="Calibri"/>
              </a:rPr>
              <a:t>Shopify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691640" cy="5669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34155"/>
                </a:solidFill>
                <a:latin typeface="Calibri"/>
              </a:rPr>
              <a:t>Google 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11880"/>
            <a:ext cx="1691640" cy="5669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34155"/>
                </a:solidFill>
                <a:latin typeface="Calibri"/>
              </a:rPr>
              <a:t>Meta 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1691640" cy="5669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34155"/>
                </a:solidFill>
                <a:latin typeface="Calibri"/>
              </a:rPr>
              <a:t>NetSuite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24328" y="3246120"/>
            <a:ext cx="502920" cy="36576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64408" y="2423160"/>
            <a:ext cx="2514600" cy="192024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24528" y="2692908"/>
            <a:ext cx="594360" cy="5943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4528" y="269290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F6FED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4747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Secure 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8404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7D2E3"/>
                </a:solidFill>
                <a:latin typeface="Calibri"/>
              </a:rPr>
              <a:t>Tenant-isolated, encrypted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88736" y="3246120"/>
            <a:ext cx="502920" cy="36576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28816" y="2286000"/>
            <a:ext cx="2331720" cy="868680"/>
          </a:xfrm>
          <a:prstGeom prst="round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03136" y="24917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24294" y="2665476"/>
            <a:ext cx="50292" cy="1463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06590" y="2583180"/>
            <a:ext cx="50292" cy="228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8886" y="2628900"/>
            <a:ext cx="50292" cy="1828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97496" y="228600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B2D"/>
                </a:solidFill>
                <a:latin typeface="Calibri"/>
              </a:rPr>
              <a:t>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8816" y="3410712"/>
            <a:ext cx="2331720" cy="868680"/>
          </a:xfrm>
          <a:prstGeom prst="round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803136" y="36164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ular Callout 27"/>
          <p:cNvSpPr/>
          <p:nvPr/>
        </p:nvSpPr>
        <p:spPr>
          <a:xfrm>
            <a:off x="6903720" y="3739896"/>
            <a:ext cx="256032" cy="173736"/>
          </a:xfrm>
          <a:prstGeom prst="wedgeRoundRectCallout">
            <a:avLst>
              <a:gd name="adj1" fmla="val -35000"/>
              <a:gd name="adj2" fmla="val 70000"/>
              <a:gd name="adj3" fmla="val 16667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97496" y="3410712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B2D"/>
                </a:solidFill>
                <a:latin typeface="Calibri"/>
              </a:rPr>
              <a:t>Ask Apicem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206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688"/>
                </a:solidFill>
                <a:latin typeface="Calibri"/>
              </a:rPr>
              <a:t>Every number a dashboard shows and every answer the assistant gives comes from this same pipeline — never two different calculations for the same thing.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2D"/>
                </a:solidFill>
                <a:latin typeface="Calibri"/>
              </a:rPr>
              <a:t>Solid foundation, one active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BACKEND MODERNIZATION — PYTHON →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1627632" cy="502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API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423160"/>
            <a:ext cx="1627632" cy="502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Dashboards &amp;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1627632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68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Data Sync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423160"/>
            <a:ext cx="1627632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68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Data Connectors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423160"/>
            <a:ext cx="1627632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68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Full Test 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423160"/>
            <a:ext cx="1627632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423160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68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99008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Cutover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9D55"/>
                </a:solidFill>
                <a:latin typeface="Calibri"/>
              </a:rPr>
              <a:t>2 of 6 phases shipped and 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06240"/>
            <a:ext cx="3319272" cy="19659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39696" y="44302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21433" y="4690872"/>
            <a:ext cx="75438" cy="21945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44877" y="4567428"/>
            <a:ext cx="75438" cy="3429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68321" y="4636008"/>
            <a:ext cx="75438" cy="274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3492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2D"/>
                </a:solidFill>
                <a:latin typeface="Calibri"/>
              </a:rPr>
              <a:t>Live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06440"/>
            <a:ext cx="277063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The product works end-to-end right now — secure, multi-tenant, automatically tested.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4206240"/>
            <a:ext cx="3319272" cy="19659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78424" y="44302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78424" y="4430268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F6FED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53492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2D"/>
                </a:solidFill>
                <a:latin typeface="Calibri"/>
              </a:rPr>
              <a:t>Safe migration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5806440"/>
            <a:ext cx="277063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Every phase ships in a verified stage. The product never breaks mid-rewrite.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0416" y="4206240"/>
            <a:ext cx="3319272" cy="19659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217152" y="44302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88602" y="4629150"/>
            <a:ext cx="342900" cy="288036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88602" y="4629150"/>
            <a:ext cx="342900" cy="92171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72613" y="4594860"/>
            <a:ext cx="24003" cy="8229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623489" y="4594860"/>
            <a:ext cx="24003" cy="8229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29016" y="53492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2D"/>
                </a:solidFill>
                <a:latin typeface="Calibri"/>
              </a:rPr>
              <a:t>Local by choice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4736" y="5806440"/>
            <a:ext cx="277063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Hosting and billing were intentionally deferred until the product itself was solid.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2D"/>
                </a:solidFill>
                <a:latin typeface="Calibri"/>
              </a:rPr>
              <a:t>What's needed to hit the launch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43032" cy="123444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OCT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148840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AB4F8"/>
                </a:solidFill>
                <a:latin typeface="Calibri"/>
              </a:rPr>
              <a:t>Target launch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542032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2E3"/>
                </a:solidFill>
                <a:latin typeface="Calibri"/>
              </a:rPr>
              <a:t>5 weeks from today — the technical work is scoped; these three items gate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3319272" cy="2651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39696" y="37444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39696" y="3744468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F6FED"/>
                </a:solidFill>
                <a:latin typeface="Calibri"/>
              </a:rP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B2D"/>
                </a:solidFill>
                <a:latin typeface="Calibri"/>
              </a:rPr>
              <a:t>Hosting decision +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7706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B7688"/>
                </a:solidFill>
                <a:latin typeface="Calibri"/>
              </a:rPr>
              <a:t>Production infrastructure and billing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520440"/>
            <a:ext cx="3319272" cy="2651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78424" y="37444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49874" y="3943350"/>
            <a:ext cx="342900" cy="288036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49874" y="3943350"/>
            <a:ext cx="342900" cy="92171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3885" y="3909060"/>
            <a:ext cx="24003" cy="8229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4761" y="3909060"/>
            <a:ext cx="24003" cy="8229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6634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B2D"/>
                </a:solidFill>
                <a:latin typeface="Calibri"/>
              </a:rPr>
              <a:t>Confirmed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5120640"/>
            <a:ext cx="27706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B7688"/>
                </a:solidFill>
                <a:latin typeface="Calibri"/>
              </a:rPr>
              <a:t>So remaining work sequences against Oct 28, not “eventually”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3520440"/>
            <a:ext cx="3319272" cy="26517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17152" y="3744468"/>
            <a:ext cx="685800" cy="68580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36608" y="3922776"/>
            <a:ext cx="246888" cy="32918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76110" y="4014947"/>
            <a:ext cx="167883" cy="13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6110" y="4080783"/>
            <a:ext cx="167883" cy="13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76110" y="4146619"/>
            <a:ext cx="167883" cy="13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466344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B2D"/>
                </a:solidFill>
                <a:latin typeface="Calibri"/>
              </a:rPr>
              <a:t>Legal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5120640"/>
            <a:ext cx="27706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B7688"/>
                </a:solidFill>
                <a:latin typeface="Calibri"/>
              </a:rPr>
              <a:t>Terms of Service and Privacy Policy before any customer signs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12042648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2F6FED"/>
                </a:solidFill>
                <a:latin typeface="Calibr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0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ED"/>
                </a:solidFill>
                <a:latin typeface="Calibri"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0F1B2D"/>
                </a:solidFill>
                <a:latin typeface="Calibri"/>
              </a:rPr>
              <a:t>The place a business owner actually</a:t>
            </a: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0F1B2D"/>
                </a:solidFill>
                <a:latin typeface="Calibri"/>
              </a:rPr>
              <a:t>checks — not another dashboard</a:t>
            </a: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0F1B2D"/>
                </a:solidFill>
                <a:latin typeface="Calibri"/>
              </a:rPr>
              <a:t>they forget to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-914400"/>
            <a:ext cx="4114800" cy="41148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74980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B2D"/>
                </a:solidFill>
                <a:latin typeface="Calibri"/>
              </a:rPr>
              <a:t>The product works.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B2D"/>
                </a:solidFill>
                <a:latin typeface="Calibri"/>
              </a:rPr>
              <a:t>The foundation is solid.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B7688"/>
                </a:solidFill>
                <a:latin typeface="Calibri"/>
              </a:rPr>
              <a:t>Let's talk about turning it on for real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Apicem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Nayan Solanki</cp:lastModifiedBy>
  <cp:revision>2</cp:revision>
  <dcterms:created xsi:type="dcterms:W3CDTF">2013-01-27T09:14:16Z</dcterms:created>
  <dcterms:modified xsi:type="dcterms:W3CDTF">2026-09-23T12:29:18Z</dcterms:modified>
  <cp:category/>
</cp:coreProperties>
</file>